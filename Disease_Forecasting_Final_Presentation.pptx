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Forecasting Dashboard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3317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System for Hospital Capacity Planning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971800"/>
            <a:ext cx="384048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154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ICRL Client Project  </a:t>
            </a:r>
            <a:pPr indent="0" marL="0">
              <a:buNone/>
            </a:pPr>
            <a:r>
              <a:rPr lang="en-US" sz="13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Version 1.0  |  2025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822960"/>
            <a:ext cx="1417320" cy="1143000"/>
          </a:xfrm>
          <a:prstGeom prst="rect">
            <a:avLst/>
          </a:prstGeom>
          <a:solidFill>
            <a:srgbClr val="1C7293">
              <a:alpha val="70000"/>
            </a:srgbClr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0" y="9144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98080" y="14813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Modelled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2194560"/>
            <a:ext cx="1417320" cy="1143000"/>
          </a:xfrm>
          <a:prstGeom prst="rect">
            <a:avLst/>
          </a:prstGeom>
          <a:solidFill>
            <a:srgbClr val="1C7293">
              <a:alpha val="70000"/>
            </a:srgbClr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0" y="22860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498080" y="28529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Trained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498080" y="3566160"/>
            <a:ext cx="1417320" cy="1143000"/>
          </a:xfrm>
          <a:prstGeom prst="rect">
            <a:avLst/>
          </a:prstGeom>
          <a:solidFill>
            <a:srgbClr val="1C7293">
              <a:alpha val="70000"/>
            </a:srgbClr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0" y="365760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498080" y="4224528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9768" y="127101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167335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context, decision-making needs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6868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55848" y="127101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ML Pipeline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55848" y="167335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Dataset, feature engineering, model training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86868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86868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8686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81928" y="127101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Demo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81928" y="167335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visuals and interactive filters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4231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42316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423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9768" y="282549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9768" y="32278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exploration and alerts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24231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423160"/>
            <a:ext cx="2697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423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355848" y="282549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32278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metrics and validation results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72200" y="2423160"/>
            <a:ext cx="2697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72200" y="2423160"/>
            <a:ext cx="2697480" cy="347472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24231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281928" y="2825496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81928" y="3227832"/>
            <a:ext cx="2487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and planned improvements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65A8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the user, what is the context, and what problems does this solve?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20040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System and Why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393192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3931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6868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7160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Hospital Administrator / Healthcare Decision-Maker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0195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Background:  </a:t>
            </a:r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management. Comfortable with charts and reports but not a data scientist.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786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Manages:  </a:t>
            </a:r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patient encounters across 4,000+ diseases monthly.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25526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 </a:t>
            </a:r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makes bed allocation and staffing decisions reactively, after demand has already risen.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view of disease demand without needing any technical skills.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26280" y="868680"/>
            <a:ext cx="42976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26280" y="868680"/>
            <a:ext cx="42976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868680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Decision-Making Needs Addressed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426464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4264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20640" y="137160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20640" y="1664208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diseases occupy beds the longest per visit?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67712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267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120640" y="22128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Forecasting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20640" y="2505456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new cases are coming in 1 month, 1 year, and 3 years?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3108960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1089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20640" y="305409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Demand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3346704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bed-days demanded per disease over 3 years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950208"/>
            <a:ext cx="347472" cy="347472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950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120640" y="389534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20640" y="4187952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all of the above by disease or category instantly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65A8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ML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68,000 rows of encounter data to 300 trained prediction models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20040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19202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96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68,000+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encounter rows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804672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804672"/>
            <a:ext cx="1920240" cy="6400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896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468880" y="13533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4,000+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6888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diseases in data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17720" y="804672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804672"/>
            <a:ext cx="1920240" cy="6400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896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617720" y="13533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1772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historical records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66560" y="804672"/>
            <a:ext cx="1920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804672"/>
            <a:ext cx="192024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896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766560" y="13533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66560" y="181051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Diseases modelled (by volume)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Columns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852928"/>
          <a:ext cx="5212080" cy="210312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</a:tblGrid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year_month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period (YYYY-MM format)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disease_name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SNOMED-coded disease 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disease_category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Grouping: Renal, Cancer, Cardiovascular...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patient encounters that month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avg_length_of_stay_days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hospital stay in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4FB"/>
                    </a:solidFill>
                  </a:tcPr>
                </a:tc>
              </a:tr>
              <a:tr h="3004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bed_days (derived)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case_records x avg_los (computed at load time)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8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 24"/>
          <p:cNvSpPr/>
          <p:nvPr/>
        </p:nvSpPr>
        <p:spPr>
          <a:xfrm>
            <a:off x="5760720" y="24871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Selection Criteria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760720" y="2852928"/>
            <a:ext cx="31089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5943600" y="294436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24 months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059168" y="294436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historical data required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943600" y="341985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059168" y="341985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total case volume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943600" y="389534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7059168" y="38953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disease (cases, LOS, bed-days)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943600" y="437083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total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7059168" y="437083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trained in one run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Gradient Boosting Regressor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estimators  |  Learning rate 0.05  |  Max depth 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6093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disease-metric pair gets its own independent 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Prophet: no C++ compiler needed, works on all hospital IT environments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2296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Engineered Features Per Row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year_num, month_num, trend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27448" y="1344168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618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sin12, cos12 (annual seasonality)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27448" y="1664208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938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sin6, cos6 (semi-annual)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27448" y="1984248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2585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lag1, lag3, lag12 (recent history)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27448" y="2304288"/>
            <a:ext cx="91440" cy="914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154680"/>
            <a:ext cx="12344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0040" y="3200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" y="3611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CSV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554480" y="3959352"/>
            <a:ext cx="228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783080" y="3154680"/>
            <a:ext cx="123444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783080" y="3200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783080" y="3611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17520" y="3959352"/>
            <a:ext cx="228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46120" y="3154680"/>
            <a:ext cx="12344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46120" y="3200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46120" y="3611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480560" y="3959352"/>
            <a:ext cx="228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3154680"/>
            <a:ext cx="123444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09160" y="3200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709160" y="3611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943600" y="3959352"/>
            <a:ext cx="228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72200" y="3154680"/>
            <a:ext cx="123444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172200" y="3200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72200" y="3611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06640" y="3959352"/>
            <a:ext cx="22860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635240" y="3154680"/>
            <a:ext cx="1234440" cy="1691640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7635240" y="32004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635240" y="36118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.pkl + JSON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3 horizons (1 month, 1 year, 3 years) generates rolling forecasts with empirical confidence intervals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65A8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Demo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interactive visuals, KPI cards, and filters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20040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Dashboard: Visuals and Filters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Core Charts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3258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Avg Hospital Stay Duration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6733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ranked by avg_los. Identifies which diseases put most pressure on beds per visit.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3749040" cy="1828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963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Hospital Bed Demand Forecast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843784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with upper/lower confidence bands. 36-month forward view for physical capacity planning.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3438144"/>
            <a:ext cx="3749040" cy="18288"/>
          </a:xfrm>
          <a:prstGeom prst="rect">
            <a:avLst/>
          </a:prstGeom>
          <a:solidFill>
            <a:srgbClr val="EDF4FB"/>
          </a:solidFill>
          <a:ln w="12700">
            <a:solidFill>
              <a:srgbClr val="EDF4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66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Monthly Case Count Forecast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4014216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with confidence range. Shows predicted new cases per month for staffing decisions.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09160" y="822960"/>
            <a:ext cx="41148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8229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KPI Cards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298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21.22K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Cases (1yr)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1298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3.89K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1792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Bed-Days (1yr)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0" y="129844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42.04 days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589520" y="173736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09160" y="2834640"/>
            <a:ext cx="41148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2834640"/>
            <a:ext cx="41148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834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Interactive Filters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0" y="3346704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3291840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Disease Category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767328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47488" y="3712464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Disease Name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4187952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41330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Year (dropdown)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46320" y="4608576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455371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Date Range (slider)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65A8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analytics with interactive exploration and automated alerts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20040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Application: 5 Pages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697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261872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top 10 diseases, category donut chart, fastest-growing snapshot, top 5 bed demand cards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80467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804672"/>
            <a:ext cx="2697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64408" y="804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Disease Explorer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74136" y="1261872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for any of 100 diseases. Shows case forecast, bed-days forecast, and LOS forecast with confidence bands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08776" y="804672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08776" y="804672"/>
            <a:ext cx="2697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804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Top Diseases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18504" y="1261872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Medal display for top 3 by cases and beds. Bar charts for top 10. Full sortable data table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26974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43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Growth and Trends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20040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fastest growing and top 10 declining diseases. Bubble chart of growth vs volume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64408" y="2743200"/>
            <a:ext cx="269748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64408" y="2743200"/>
            <a:ext cx="26974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2743200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Alerts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74136" y="3200400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alerts for high case volume, high bed demand, long stay diseases, and rapid growth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65A8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metrics, validation strategy, and confidence interval approach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20040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and Validation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3931920" cy="1691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96112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87 - 92%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20040" y="17647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Case Count Accuracy (1 - MAPE)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804672"/>
            <a:ext cx="4297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804672"/>
            <a:ext cx="429768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804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Range by Model Type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663440" y="12984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Count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1371600"/>
            <a:ext cx="137160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8 - 13%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719072"/>
            <a:ext cx="1371600" cy="16459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09560" y="1645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12 - 20%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993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Bed-Days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2066544"/>
            <a:ext cx="1371600" cy="1645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199339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15 - 22%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2697480"/>
            <a:ext cx="85039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2697480"/>
            <a:ext cx="850392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6974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Strategy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273552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set: 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12 months withheld from training for each disease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3913632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on full data: 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metrics are computed, model is retrained on all history before deployment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273552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intervals: 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474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rolling 24-month standard deviation; widens with forecast horizon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913632"/>
            <a:ext cx="109728" cy="10972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8404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Coverage: 100 diseases: 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4114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with 3 models; 300 total MAE, RMSE, and MAPE scores recorded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00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065A82">
                    <a:alpha val="4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 and Roadmap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improvements and future capability expansion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3200400" cy="45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Planned Improvements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503920" y="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04672"/>
            <a:ext cx="2697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04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298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Retraining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monthly retraining as new encounter records are added. Eliminates the need to run the training script manually.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804672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64408" y="804672"/>
            <a:ext cx="2697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64408" y="804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298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🏥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401568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Readmission Risk Model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01568" y="25146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already contains readmission flags. A new model will predict 30-day readmission probability per patient encounter.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08776" y="804672"/>
            <a:ext cx="26974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8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08776" y="804672"/>
            <a:ext cx="269748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08776" y="804672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8776" y="1298448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☁️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345936" y="2029968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45936" y="25146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API to Azure so the dashboard works from any hospital computer without a locally running Command Prompt window.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480560"/>
            <a:ext cx="8503920" cy="548640"/>
          </a:xfrm>
          <a:prstGeom prst="rect">
            <a:avLst/>
          </a:prstGeom>
          <a:solidFill>
            <a:srgbClr val="EDF4FB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48056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planned: Top increasing diseases alert in Power BI  |  Expanded disease coverage  |  Trend-aware confidence intervals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11480" y="1170432"/>
            <a:ext cx="3840480" cy="36576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68,000 rows of historical hospital encounter data processed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01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machine learning models trained across 100 diseases and 3 metrics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505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1-month, 1-year, and 3-year forecasts with confidence intervals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9992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REST API serving predictions to Power BI and Streamlit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61188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5478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Point-and-click dashboard requiring zero technical knowledge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28016" cy="128016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4096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alerts flagging high-demand and fast-growing diseases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1097280"/>
            <a:ext cx="2651760" cy="3749040"/>
          </a:xfrm>
          <a:prstGeom prst="rect">
            <a:avLst/>
          </a:prstGeom>
          <a:solidFill>
            <a:srgbClr val="065A82">
              <a:alpha val="2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18872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55080" y="171907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GBR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267004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14553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6210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+ Plotly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55080" y="409651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+ NumPy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Forecasting Dashboard  |  ICRL Client Project  |  2025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Disease Forecasting Dashboard - Final Presentation</dc:title>
  <dc:subject>PptxGenJS Presentation</dc:subject>
  <dc:creator>ICRL Project Team</dc:creator>
  <cp:lastModifiedBy>ICRL Project Team</cp:lastModifiedBy>
  <cp:revision>1</cp:revision>
  <dcterms:created xsi:type="dcterms:W3CDTF">2026-04-19T14:37:04Z</dcterms:created>
  <dcterms:modified xsi:type="dcterms:W3CDTF">2026-04-19T14:37:04Z</dcterms:modified>
</cp:coreProperties>
</file>